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62"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60" autoAdjust="0"/>
    <p:restoredTop sz="80924" autoAdjust="0"/>
  </p:normalViewPr>
  <p:slideViewPr>
    <p:cSldViewPr snapToGrid="0">
      <p:cViewPr varScale="1">
        <p:scale>
          <a:sx n="73" d="100"/>
          <a:sy n="73" d="100"/>
        </p:scale>
        <p:origin x="92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40A4-32D9-4CE9-BB53-0C524879C798}" type="datetimeFigureOut">
              <a:rPr lang="en-US" smtClean="0"/>
              <a:t>1/19/2020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737FFA-ED73-40BF-A184-9B004A31D26C}" type="slidenum">
              <a:rPr lang="en-US" smtClean="0"/>
              <a:t>‹#›</a:t>
            </a:fld>
            <a:endParaRPr lang="en-US"/>
          </a:p>
        </p:txBody>
      </p:sp>
    </p:spTree>
    <p:extLst>
      <p:ext uri="{BB962C8B-B14F-4D97-AF65-F5344CB8AC3E}">
        <p14:creationId xmlns:p14="http://schemas.microsoft.com/office/powerpoint/2010/main" val="360634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jamanetwork.com/journals/jamanetworkopen/fullarticle/2714507"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panose="020B0604020202020204" pitchFamily="34" charset="0"/>
              <a:buChar char="•"/>
            </a:pPr>
            <a:r>
              <a:rPr lang="en-US" sz="1200" b="0" i="0" kern="1200" dirty="0">
                <a:solidFill>
                  <a:schemeClr val="tx1"/>
                </a:solidFill>
                <a:effectLst/>
                <a:latin typeface="+mn-lt"/>
                <a:ea typeface="+mn-ea"/>
                <a:cs typeface="+mn-cs"/>
              </a:rPr>
              <a:t>In this US national survey study of 506 insured adults, 29.6% reported having delayed or foregone care because of cost. Higher health insurance literacy was associated with a lower likelihood of delayed or foregone care owing to cost for both preventive and </a:t>
            </a:r>
            <a:r>
              <a:rPr lang="en-US" sz="1200" b="0" i="0" kern="1200" dirty="0" err="1">
                <a:solidFill>
                  <a:schemeClr val="tx1"/>
                </a:solidFill>
                <a:effectLst/>
                <a:latin typeface="+mn-lt"/>
                <a:ea typeface="+mn-ea"/>
                <a:cs typeface="+mn-cs"/>
              </a:rPr>
              <a:t>nonpreventive</a:t>
            </a:r>
            <a:r>
              <a:rPr lang="en-US" sz="1200" b="0" i="0" kern="1200" dirty="0">
                <a:solidFill>
                  <a:schemeClr val="tx1"/>
                </a:solidFill>
                <a:effectLst/>
                <a:latin typeface="+mn-lt"/>
                <a:ea typeface="+mn-ea"/>
                <a:cs typeface="+mn-cs"/>
              </a:rPr>
              <a:t> care.</a:t>
            </a:r>
          </a:p>
          <a:p>
            <a:pPr marL="228600" indent="-228600">
              <a:buFont typeface="Arial" panose="020B0604020202020204" pitchFamily="34" charset="0"/>
              <a:buChar char="•"/>
            </a:pPr>
            <a:r>
              <a:rPr lang="en-US" sz="1200" b="0" i="0" kern="1200" dirty="0">
                <a:solidFill>
                  <a:schemeClr val="tx1"/>
                </a:solidFill>
                <a:effectLst/>
                <a:latin typeface="+mn-lt"/>
                <a:ea typeface="+mn-ea"/>
                <a:cs typeface="+mn-cs"/>
              </a:rPr>
              <a:t>It appears that to improve appropriate use of recommended health care services, including preventive health services, clinicians, health plans, and policymakers may need to communicate health insurance concepts in accessible ways regardless of individuals’ health insurance literacy. </a:t>
            </a:r>
          </a:p>
          <a:p>
            <a:pPr marL="685800" lvl="1" indent="-228600">
              <a:buFont typeface="Arial" panose="020B0604020202020204" pitchFamily="34" charset="0"/>
              <a:buChar char="•"/>
            </a:pPr>
            <a:r>
              <a:rPr lang="en-US" dirty="0">
                <a:hlinkClick r:id="rId3"/>
              </a:rPr>
              <a:t>https://jamanetwork.com/journals/jamanetworkopen/fullarticle/2714507</a:t>
            </a:r>
            <a:endParaRPr lang="en-US" sz="1200" b="0" i="0" kern="1200" dirty="0">
              <a:solidFill>
                <a:schemeClr val="tx1"/>
              </a:solidFill>
              <a:effectLst/>
              <a:latin typeface="+mn-lt"/>
              <a:ea typeface="+mn-ea"/>
              <a:cs typeface="+mn-cs"/>
            </a:endParaRPr>
          </a:p>
          <a:p>
            <a:pPr marL="228600" indent="-228600">
              <a:buFont typeface="Arial" panose="020B0604020202020204" pitchFamily="34" charset="0"/>
              <a:buChar char="•"/>
            </a:pPr>
            <a:r>
              <a:rPr lang="en-US" sz="1200" b="0" i="0" kern="1200" dirty="0">
                <a:solidFill>
                  <a:schemeClr val="tx1"/>
                </a:solidFill>
                <a:effectLst/>
                <a:latin typeface="+mn-lt"/>
                <a:ea typeface="+mn-ea"/>
                <a:cs typeface="+mn-cs"/>
              </a:rPr>
              <a:t>Plain language communication may be able to improve patients’ understanding of services exempt from out-of-pocket costs.</a:t>
            </a:r>
            <a:endParaRPr lang="en-US" dirty="0"/>
          </a:p>
        </p:txBody>
      </p:sp>
      <p:sp>
        <p:nvSpPr>
          <p:cNvPr id="4" name="Slide Number Placeholder 3"/>
          <p:cNvSpPr>
            <a:spLocks noGrp="1"/>
          </p:cNvSpPr>
          <p:nvPr>
            <p:ph type="sldNum" sz="quarter" idx="5"/>
          </p:nvPr>
        </p:nvSpPr>
        <p:spPr/>
        <p:txBody>
          <a:bodyPr/>
          <a:lstStyle/>
          <a:p>
            <a:fld id="{31737FFA-ED73-40BF-A184-9B004A31D26C}" type="slidenum">
              <a:rPr lang="en-US" smtClean="0"/>
              <a:t>2</a:t>
            </a:fld>
            <a:endParaRPr lang="en-US"/>
          </a:p>
        </p:txBody>
      </p:sp>
    </p:spTree>
    <p:extLst>
      <p:ext uri="{BB962C8B-B14F-4D97-AF65-F5344CB8AC3E}">
        <p14:creationId xmlns:p14="http://schemas.microsoft.com/office/powerpoint/2010/main" val="2008929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created a non-profit start up aimed to providing health insurance literacy to people everywhere, starting with the people of Palm Coast. Assured Insurance hosts a website geared to educating them on fundamentals of health insurance, the expected charge for medical statements, and how to dispute charges you believe are unfair. HTML was used to generate a </a:t>
            </a:r>
          </a:p>
        </p:txBody>
      </p:sp>
      <p:sp>
        <p:nvSpPr>
          <p:cNvPr id="4" name="Slide Number Placeholder 3"/>
          <p:cNvSpPr>
            <a:spLocks noGrp="1"/>
          </p:cNvSpPr>
          <p:nvPr>
            <p:ph type="sldNum" sz="quarter" idx="5"/>
          </p:nvPr>
        </p:nvSpPr>
        <p:spPr/>
        <p:txBody>
          <a:bodyPr/>
          <a:lstStyle/>
          <a:p>
            <a:fld id="{31737FFA-ED73-40BF-A184-9B004A31D26C}" type="slidenum">
              <a:rPr lang="en-US" smtClean="0"/>
              <a:t>3</a:t>
            </a:fld>
            <a:endParaRPr lang="en-US"/>
          </a:p>
        </p:txBody>
      </p:sp>
    </p:spTree>
    <p:extLst>
      <p:ext uri="{BB962C8B-B14F-4D97-AF65-F5344CB8AC3E}">
        <p14:creationId xmlns:p14="http://schemas.microsoft.com/office/powerpoint/2010/main" val="3576959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32C2BB-0488-43BA-B5AA-1C77AB2CC6C3}" type="datetimeFigureOut">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2466107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32C2BB-0488-43BA-B5AA-1C77AB2CC6C3}" type="datetimeFigureOut">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1624019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8632C2BB-0488-43BA-B5AA-1C77AB2CC6C3}" type="datetimeFigureOut">
              <a:rPr lang="en-US" smtClean="0"/>
              <a:t>1/19/2020</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71B00D4-D705-41FB-B677-C52B90E594C4}" type="slidenum">
              <a:rPr lang="en-US" smtClean="0"/>
              <a:t>‹#›</a:t>
            </a:fld>
            <a:endParaRPr lang="en-US"/>
          </a:p>
        </p:txBody>
      </p:sp>
    </p:spTree>
    <p:extLst>
      <p:ext uri="{BB962C8B-B14F-4D97-AF65-F5344CB8AC3E}">
        <p14:creationId xmlns:p14="http://schemas.microsoft.com/office/powerpoint/2010/main" val="174371727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32C2BB-0488-43BA-B5AA-1C77AB2CC6C3}" type="datetimeFigureOut">
              <a:rPr lang="en-US" smtClean="0"/>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94172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32C2BB-0488-43BA-B5AA-1C77AB2CC6C3}" type="datetimeFigureOut">
              <a:rPr lang="en-US" smtClean="0"/>
              <a:t>1/19/2020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4239909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32C2BB-0488-43BA-B5AA-1C77AB2CC6C3}" type="datetimeFigureOut">
              <a:rPr lang="en-US" smtClean="0"/>
              <a:t>1/19/2020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2295091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32C2BB-0488-43BA-B5AA-1C77AB2CC6C3}" type="datetimeFigureOut">
              <a:rPr lang="en-US" smtClean="0"/>
              <a:t>1/19/2020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4202521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32C2BB-0488-43BA-B5AA-1C77AB2CC6C3}" type="datetimeFigureOut">
              <a:rPr lang="en-US" smtClean="0"/>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2660968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32C2BB-0488-43BA-B5AA-1C77AB2CC6C3}" type="datetimeFigureOut">
              <a:rPr lang="en-US" smtClean="0"/>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1260936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32C2BB-0488-43BA-B5AA-1C77AB2CC6C3}" type="datetimeFigureOut">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1520025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8632C2BB-0488-43BA-B5AA-1C77AB2CC6C3}" type="datetimeFigureOut">
              <a:rPr lang="en-US" smtClean="0"/>
              <a:t>1/19/2020</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E71B00D4-D705-41FB-B677-C52B90E594C4}" type="slidenum">
              <a:rPr lang="en-US" smtClean="0"/>
              <a:t>‹#›</a:t>
            </a:fld>
            <a:endParaRPr lang="en-US"/>
          </a:p>
        </p:txBody>
      </p:sp>
    </p:spTree>
    <p:extLst>
      <p:ext uri="{BB962C8B-B14F-4D97-AF65-F5344CB8AC3E}">
        <p14:creationId xmlns:p14="http://schemas.microsoft.com/office/powerpoint/2010/main" val="809862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8632C2BB-0488-43BA-B5AA-1C77AB2CC6C3}" type="datetimeFigureOut">
              <a:rPr lang="en-US" smtClean="0"/>
              <a:t>1/19/2020</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E71B00D4-D705-41FB-B677-C52B90E594C4}" type="slidenum">
              <a:rPr lang="en-US" smtClean="0"/>
              <a:t>‹#›</a:t>
            </a:fld>
            <a:endParaRPr lang="en-US"/>
          </a:p>
        </p:txBody>
      </p:sp>
    </p:spTree>
    <p:extLst>
      <p:ext uri="{BB962C8B-B14F-4D97-AF65-F5344CB8AC3E}">
        <p14:creationId xmlns:p14="http://schemas.microsoft.com/office/powerpoint/2010/main" val="31225769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1EF1A-A123-4151-B573-535BCCCBAE3B}"/>
              </a:ext>
            </a:extLst>
          </p:cNvPr>
          <p:cNvSpPr>
            <a:spLocks noGrp="1"/>
          </p:cNvSpPr>
          <p:nvPr>
            <p:ph type="ctrTitle"/>
          </p:nvPr>
        </p:nvSpPr>
        <p:spPr/>
        <p:txBody>
          <a:bodyPr/>
          <a:lstStyle/>
          <a:p>
            <a:r>
              <a:rPr lang="en-US" dirty="0"/>
              <a:t>Assured Insurance </a:t>
            </a:r>
          </a:p>
        </p:txBody>
      </p:sp>
      <p:sp>
        <p:nvSpPr>
          <p:cNvPr id="3" name="Subtitle 2">
            <a:extLst>
              <a:ext uri="{FF2B5EF4-FFF2-40B4-BE49-F238E27FC236}">
                <a16:creationId xmlns:a16="http://schemas.microsoft.com/office/drawing/2014/main" id="{DD0241E0-58F6-459C-BACE-AB982279AB84}"/>
              </a:ext>
            </a:extLst>
          </p:cNvPr>
          <p:cNvSpPr>
            <a:spLocks noGrp="1"/>
          </p:cNvSpPr>
          <p:nvPr>
            <p:ph type="subTitle" idx="1"/>
          </p:nvPr>
        </p:nvSpPr>
        <p:spPr/>
        <p:txBody>
          <a:bodyPr>
            <a:normAutofit fontScale="70000" lnSpcReduction="20000"/>
          </a:bodyPr>
          <a:lstStyle/>
          <a:p>
            <a:r>
              <a:rPr lang="en-US" dirty="0"/>
              <a:t>Raj Shah and Jackie Lu </a:t>
            </a:r>
          </a:p>
          <a:p>
            <a:r>
              <a:rPr lang="en-US" dirty="0"/>
              <a:t>Einstein Bot, Tableau, HTML, Pandas</a:t>
            </a:r>
          </a:p>
          <a:p>
            <a:r>
              <a:rPr lang="en-US" b="1" dirty="0"/>
              <a:t>Create solutions that help patients better understand their care</a:t>
            </a:r>
          </a:p>
          <a:p>
            <a:r>
              <a:rPr lang="en-US" b="1" dirty="0"/>
              <a:t>Create solutions that address the need to keep costs down for patients</a:t>
            </a:r>
            <a:r>
              <a:rPr lang="en-US" dirty="0"/>
              <a:t> </a:t>
            </a:r>
          </a:p>
        </p:txBody>
      </p:sp>
    </p:spTree>
    <p:extLst>
      <p:ext uri="{BB962C8B-B14F-4D97-AF65-F5344CB8AC3E}">
        <p14:creationId xmlns:p14="http://schemas.microsoft.com/office/powerpoint/2010/main" val="1417797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777AD-9C4B-4664-87CD-108D0DAB8C59}"/>
              </a:ext>
            </a:extLst>
          </p:cNvPr>
          <p:cNvSpPr>
            <a:spLocks noGrp="1"/>
          </p:cNvSpPr>
          <p:nvPr>
            <p:ph type="title"/>
          </p:nvPr>
        </p:nvSpPr>
        <p:spPr/>
        <p:txBody>
          <a:bodyPr/>
          <a:lstStyle/>
          <a:p>
            <a:r>
              <a:rPr lang="en-US" dirty="0"/>
              <a:t>Narrative</a:t>
            </a:r>
          </a:p>
        </p:txBody>
      </p:sp>
      <p:sp>
        <p:nvSpPr>
          <p:cNvPr id="3" name="Content Placeholder 2">
            <a:extLst>
              <a:ext uri="{FF2B5EF4-FFF2-40B4-BE49-F238E27FC236}">
                <a16:creationId xmlns:a16="http://schemas.microsoft.com/office/drawing/2014/main" id="{11666051-82F3-4CB2-985C-892992763C48}"/>
              </a:ext>
            </a:extLst>
          </p:cNvPr>
          <p:cNvSpPr>
            <a:spLocks noGrp="1"/>
          </p:cNvSpPr>
          <p:nvPr>
            <p:ph idx="1"/>
          </p:nvPr>
        </p:nvSpPr>
        <p:spPr/>
        <p:txBody>
          <a:bodyPr/>
          <a:lstStyle/>
          <a:p>
            <a:r>
              <a:rPr lang="en-US" dirty="0"/>
              <a:t>Market included </a:t>
            </a:r>
          </a:p>
        </p:txBody>
      </p:sp>
      <p:pic>
        <p:nvPicPr>
          <p:cNvPr id="4" name="Picture 3">
            <a:extLst>
              <a:ext uri="{FF2B5EF4-FFF2-40B4-BE49-F238E27FC236}">
                <a16:creationId xmlns:a16="http://schemas.microsoft.com/office/drawing/2014/main" id="{4A8112A3-4733-4043-AEC0-D0CFBC807788}"/>
              </a:ext>
            </a:extLst>
          </p:cNvPr>
          <p:cNvPicPr>
            <a:picLocks noChangeAspect="1"/>
          </p:cNvPicPr>
          <p:nvPr/>
        </p:nvPicPr>
        <p:blipFill>
          <a:blip r:embed="rId3"/>
          <a:stretch>
            <a:fillRect/>
          </a:stretch>
        </p:blipFill>
        <p:spPr>
          <a:xfrm>
            <a:off x="7546298" y="2011680"/>
            <a:ext cx="4234871" cy="4506686"/>
          </a:xfrm>
          <a:prstGeom prst="rect">
            <a:avLst/>
          </a:prstGeom>
        </p:spPr>
      </p:pic>
    </p:spTree>
    <p:extLst>
      <p:ext uri="{BB962C8B-B14F-4D97-AF65-F5344CB8AC3E}">
        <p14:creationId xmlns:p14="http://schemas.microsoft.com/office/powerpoint/2010/main" val="1052284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0133-47BA-4671-B52C-CDCBD4AA74F2}"/>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22C5178E-B33A-48F6-8C22-CE710A8815E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52457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898EF-032D-40CE-BE64-A868C994D4B4}"/>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a16="http://schemas.microsoft.com/office/drawing/2014/main" id="{B6FEC69B-26D2-4AA0-982C-C7CB3AD5AF2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27332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4AF60-A7AE-4563-87B2-0305F7DC101F}"/>
              </a:ext>
            </a:extLst>
          </p:cNvPr>
          <p:cNvSpPr>
            <a:spLocks noGrp="1"/>
          </p:cNvSpPr>
          <p:nvPr>
            <p:ph type="title"/>
          </p:nvPr>
        </p:nvSpPr>
        <p:spPr/>
        <p:txBody>
          <a:bodyPr/>
          <a:lstStyle/>
          <a:p>
            <a:r>
              <a:rPr lang="en-US" dirty="0"/>
              <a:t>Business Model </a:t>
            </a:r>
          </a:p>
        </p:txBody>
      </p:sp>
      <p:sp>
        <p:nvSpPr>
          <p:cNvPr id="3" name="Content Placeholder 2">
            <a:extLst>
              <a:ext uri="{FF2B5EF4-FFF2-40B4-BE49-F238E27FC236}">
                <a16:creationId xmlns:a16="http://schemas.microsoft.com/office/drawing/2014/main" id="{49372386-8EE6-4EDD-803D-084C49D867C9}"/>
              </a:ext>
            </a:extLst>
          </p:cNvPr>
          <p:cNvSpPr>
            <a:spLocks noGrp="1"/>
          </p:cNvSpPr>
          <p:nvPr>
            <p:ph idx="1"/>
          </p:nvPr>
        </p:nvSpPr>
        <p:spPr/>
        <p:txBody>
          <a:bodyPr/>
          <a:lstStyle/>
          <a:p>
            <a:r>
              <a:rPr lang="en-US" dirty="0"/>
              <a:t>Execution 1</a:t>
            </a:r>
          </a:p>
        </p:txBody>
      </p:sp>
      <p:pic>
        <p:nvPicPr>
          <p:cNvPr id="4" name="Picture 3">
            <a:extLst>
              <a:ext uri="{FF2B5EF4-FFF2-40B4-BE49-F238E27FC236}">
                <a16:creationId xmlns:a16="http://schemas.microsoft.com/office/drawing/2014/main" id="{B11A65F8-F568-4027-A51A-55C0A4A2E884}"/>
              </a:ext>
            </a:extLst>
          </p:cNvPr>
          <p:cNvPicPr>
            <a:picLocks noChangeAspect="1"/>
          </p:cNvPicPr>
          <p:nvPr/>
        </p:nvPicPr>
        <p:blipFill>
          <a:blip r:embed="rId2"/>
          <a:stretch>
            <a:fillRect/>
          </a:stretch>
        </p:blipFill>
        <p:spPr>
          <a:xfrm>
            <a:off x="4252912" y="2505075"/>
            <a:ext cx="3686175" cy="1847850"/>
          </a:xfrm>
          <a:prstGeom prst="rect">
            <a:avLst/>
          </a:prstGeom>
        </p:spPr>
      </p:pic>
    </p:spTree>
    <p:extLst>
      <p:ext uri="{BB962C8B-B14F-4D97-AF65-F5344CB8AC3E}">
        <p14:creationId xmlns:p14="http://schemas.microsoft.com/office/powerpoint/2010/main" val="3617940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E582D-2BD0-41B8-B276-1B0AF6C3ABB0}"/>
              </a:ext>
            </a:extLst>
          </p:cNvPr>
          <p:cNvSpPr>
            <a:spLocks noGrp="1"/>
          </p:cNvSpPr>
          <p:nvPr>
            <p:ph type="title"/>
          </p:nvPr>
        </p:nvSpPr>
        <p:spPr/>
        <p:txBody>
          <a:bodyPr/>
          <a:lstStyle/>
          <a:p>
            <a:r>
              <a:rPr lang="en-US" dirty="0"/>
              <a:t>Future implementation</a:t>
            </a:r>
          </a:p>
        </p:txBody>
      </p:sp>
      <p:sp>
        <p:nvSpPr>
          <p:cNvPr id="3" name="Content Placeholder 2">
            <a:extLst>
              <a:ext uri="{FF2B5EF4-FFF2-40B4-BE49-F238E27FC236}">
                <a16:creationId xmlns:a16="http://schemas.microsoft.com/office/drawing/2014/main" id="{F5B2AD54-1804-488F-B640-6827E03B0607}"/>
              </a:ext>
            </a:extLst>
          </p:cNvPr>
          <p:cNvSpPr>
            <a:spLocks noGrp="1"/>
          </p:cNvSpPr>
          <p:nvPr>
            <p:ph idx="1"/>
          </p:nvPr>
        </p:nvSpPr>
        <p:spPr/>
        <p:txBody>
          <a:bodyPr/>
          <a:lstStyle/>
          <a:p>
            <a:r>
              <a:rPr lang="en-US" dirty="0"/>
              <a:t>Execution 2 </a:t>
            </a:r>
          </a:p>
          <a:p>
            <a:r>
              <a:rPr lang="en-US" dirty="0"/>
              <a:t>Mobile app </a:t>
            </a:r>
          </a:p>
          <a:p>
            <a:r>
              <a:rPr lang="en-US" dirty="0"/>
              <a:t>Standardized education platform for insurance literacy</a:t>
            </a:r>
          </a:p>
          <a:p>
            <a:pPr lvl="1"/>
            <a:r>
              <a:rPr lang="en-US" dirty="0"/>
              <a:t>Knowledge, Information Seeking, Document Literacy, Cognitive Skills </a:t>
            </a:r>
          </a:p>
          <a:p>
            <a:r>
              <a:rPr lang="en-US" dirty="0"/>
              <a:t>Modeling projected costs of treatment in comparison to today </a:t>
            </a:r>
          </a:p>
        </p:txBody>
      </p:sp>
    </p:spTree>
    <p:extLst>
      <p:ext uri="{BB962C8B-B14F-4D97-AF65-F5344CB8AC3E}">
        <p14:creationId xmlns:p14="http://schemas.microsoft.com/office/powerpoint/2010/main" val="24508628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447</TotalTime>
  <Words>262</Words>
  <Application>Microsoft Office PowerPoint</Application>
  <PresentationFormat>Widescreen</PresentationFormat>
  <Paragraphs>24</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Corbel</vt:lpstr>
      <vt:lpstr>Wingdings</vt:lpstr>
      <vt:lpstr>Banded</vt:lpstr>
      <vt:lpstr>Assured Insurance </vt:lpstr>
      <vt:lpstr>Narrative</vt:lpstr>
      <vt:lpstr>Solution</vt:lpstr>
      <vt:lpstr>Demo</vt:lpstr>
      <vt:lpstr>Business Model </vt:lpstr>
      <vt:lpstr>Future 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Assured Insurance</dc:title>
  <dc:creator>Jackie Lu</dc:creator>
  <cp:lastModifiedBy>Jackie Lu</cp:lastModifiedBy>
  <cp:revision>9</cp:revision>
  <dcterms:created xsi:type="dcterms:W3CDTF">2020-01-19T07:45:36Z</dcterms:created>
  <dcterms:modified xsi:type="dcterms:W3CDTF">2020-01-19T15:13:26Z</dcterms:modified>
</cp:coreProperties>
</file>